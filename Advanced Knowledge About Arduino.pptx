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1" d="100"/>
          <a:sy n="41" d="100"/>
        </p:scale>
        <p:origin x="17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charset="0"/>
              <a:ea typeface="SimSun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charset="0"/>
              <a:ea typeface="SimSun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 autoUpdateAnimBg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80604020202020204" charset="0"/>
          <a:ea typeface="SimSun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80604020202020204" charset="0"/>
          <a:ea typeface="SimSun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80604020202020204" charset="0"/>
          <a:ea typeface="SimSun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80604020202020204" charset="0"/>
          <a:ea typeface="SimSun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80604020202020204" charset="0"/>
          <a:ea typeface="SimSun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80604020202020204" charset="0"/>
          <a:ea typeface="SimSun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80604020202020204" charset="0"/>
          <a:ea typeface="SimSun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80604020202020204" charset="0"/>
          <a:ea typeface="SimSun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x-none" altLang="en-US">
                <a:sym typeface="+mn-ea"/>
              </a:rPr>
              <a:t>Practical software engineering for mechatronics systems</a:t>
            </a:r>
            <a:endParaRPr lang="x-none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algn="r"/>
            <a:r>
              <a:rPr lang="x-none" altLang="en-US" sz="2800">
                <a:sym typeface="+mn-ea"/>
              </a:rPr>
              <a:t>3: Advanced Knowledge About Arduino</a:t>
            </a:r>
            <a:endParaRPr lang="x-none" altLang="en-US" sz="2800">
              <a:sym typeface="+mn-ea"/>
            </a:endParaRPr>
          </a:p>
          <a:p>
            <a:pPr algn="r"/>
            <a:endParaRPr lang="x-none" altLang="en-US" sz="280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Arduino Basics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Program Structure</a:t>
            </a:r>
            <a:endParaRPr lang="x-none" altLang="en-US"/>
          </a:p>
          <a:p>
            <a:pPr lvl="1"/>
            <a:r>
              <a:rPr lang="x-none" altLang="en-US" sz="2400"/>
              <a:t>setup() and loop()</a:t>
            </a:r>
            <a:endParaRPr lang="x-none" altLang="en-US" sz="2400"/>
          </a:p>
          <a:p>
            <a:r>
              <a:rPr lang="x-none" altLang="en-US"/>
              <a:t>Basic digital I/O, analog input and PWM output</a:t>
            </a:r>
            <a:endParaRPr lang="x-none" altLang="en-US"/>
          </a:p>
          <a:p>
            <a:pPr lvl="1"/>
            <a:r>
              <a:rPr lang="x-none" altLang="en-US" sz="2400"/>
              <a:t>digitalRead() / digitalWrite()</a:t>
            </a:r>
            <a:endParaRPr lang="x-none" altLang="en-US" sz="2400"/>
          </a:p>
          <a:p>
            <a:pPr lvl="1"/>
            <a:r>
              <a:rPr lang="x-none" altLang="en-US" sz="2400"/>
              <a:t>analogRead() / analogWrite()</a:t>
            </a:r>
            <a:endParaRPr lang="x-none" altLang="en-US" sz="2400"/>
          </a:p>
          <a:p>
            <a:r>
              <a:rPr lang="x-none" altLang="en-US"/>
              <a:t>Functions</a:t>
            </a:r>
            <a:endParaRPr lang="x-none" altLang="en-US"/>
          </a:p>
          <a:p>
            <a:pPr lvl="1"/>
            <a:r>
              <a:rPr lang="x-none" altLang="en-US" sz="2400"/>
              <a:t>String, date, time, calculation, etc.</a:t>
            </a:r>
            <a:endParaRPr lang="x-none" altLang="en-US" sz="2400"/>
          </a:p>
          <a:p>
            <a:r>
              <a:rPr lang="x-none" altLang="en-US"/>
              <a:t>Serial communication</a:t>
            </a:r>
            <a:endParaRPr lang="x-none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Advanced topics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About Timer</a:t>
            </a:r>
            <a:endParaRPr lang="x-none" altLang="en-US"/>
          </a:p>
          <a:p>
            <a:r>
              <a:rPr lang="x-none" altLang="en-US"/>
              <a:t>How to use the arduino library</a:t>
            </a:r>
            <a:endParaRPr lang="x-none" altLang="en-US"/>
          </a:p>
          <a:p>
            <a:r>
              <a:rPr lang="x-none" altLang="en-US"/>
              <a:t>How to write your own library</a:t>
            </a:r>
            <a:endParaRPr lang="x-none" altLang="en-US"/>
          </a:p>
          <a:p>
            <a:pPr marL="0" indent="0">
              <a:buNone/>
            </a:pPr>
            <a:endParaRPr lang="x-none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AT1: Timer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What is timer?</a:t>
            </a:r>
            <a:endParaRPr lang="x-none" altLang="en-US"/>
          </a:p>
          <a:p>
            <a:pPr lvl="1"/>
            <a:r>
              <a:rPr lang="x-none" altLang="en-US"/>
              <a:t>Timer is a reminder that is strictly remind your code to do somthing at specified time instante.</a:t>
            </a:r>
            <a:endParaRPr lang="x-none" altLang="en-US"/>
          </a:p>
          <a:p>
            <a:pPr lvl="0"/>
            <a:r>
              <a:rPr lang="x-none" altLang="en-US"/>
              <a:t>Why Timer?</a:t>
            </a:r>
            <a:endParaRPr lang="x-none" altLang="en-US"/>
          </a:p>
          <a:p>
            <a:pPr lvl="1"/>
            <a:r>
              <a:rPr lang="x-none" altLang="en-US"/>
              <a:t>Timer is very important in Real-time system.</a:t>
            </a:r>
            <a:endParaRPr lang="x-none" altLang="en-US"/>
          </a:p>
          <a:p>
            <a:pPr lvl="1"/>
            <a:r>
              <a:rPr lang="x-none" altLang="en-US"/>
              <a:t>Generate a very presice time delay.</a:t>
            </a:r>
            <a:endParaRPr lang="x-none" altLang="en-US"/>
          </a:p>
          <a:p>
            <a:pPr lvl="1"/>
            <a:r>
              <a:rPr lang="x-none" altLang="en-US"/>
              <a:t>Timer can work in backgroud / not comsuming CPU resources.</a:t>
            </a:r>
            <a:endParaRPr lang="x-none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AT1: Timer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Hardware Timer V.S. Software Timer</a:t>
            </a:r>
            <a:endParaRPr lang="x-none" altLang="en-US"/>
          </a:p>
          <a:p>
            <a:pPr lvl="1"/>
            <a:r>
              <a:rPr lang="x-none" altLang="en-US" sz="2800"/>
              <a:t>Hardware timer usually available in CMU based system.</a:t>
            </a:r>
            <a:endParaRPr lang="x-none" altLang="en-US" sz="2800"/>
          </a:p>
          <a:p>
            <a:pPr lvl="1"/>
            <a:r>
              <a:rPr lang="x-none" altLang="en-US" sz="2800"/>
              <a:t>Software timer usually available in PC based system.</a:t>
            </a:r>
            <a:endParaRPr lang="x-none" altLang="en-US" sz="2800"/>
          </a:p>
          <a:p>
            <a:pPr lvl="1"/>
            <a:r>
              <a:rPr lang="x-none" altLang="en-US"/>
              <a:t>In Arduino, we use hardware Timer.</a:t>
            </a:r>
            <a:endParaRPr lang="x-none" altLang="en-US"/>
          </a:p>
          <a:p>
            <a:pPr lvl="0"/>
            <a:r>
              <a:rPr lang="x-none" altLang="en-US"/>
              <a:t>Hardware Timer</a:t>
            </a:r>
            <a:endParaRPr lang="x-none" altLang="en-US"/>
          </a:p>
          <a:p>
            <a:pPr lvl="1"/>
            <a:r>
              <a:rPr lang="x-none" altLang="en-US"/>
              <a:t>2 timers in Arduino</a:t>
            </a:r>
            <a:endParaRPr lang="x-none" altLang="en-US"/>
          </a:p>
          <a:p>
            <a:pPr lvl="1"/>
            <a:r>
              <a:rPr lang="x-none" altLang="en-US"/>
              <a:t>need to set the initial value, enable the interrupt</a:t>
            </a:r>
            <a:endParaRPr lang="x-none" altLang="en-US"/>
          </a:p>
          <a:p>
            <a:pPr lvl="1"/>
            <a:r>
              <a:rPr lang="x-none" altLang="en-US"/>
              <a:t>do something in the interrupt service function</a:t>
            </a:r>
            <a:endParaRPr lang="x-none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Timer in Arduino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Hacker's way</a:t>
            </a:r>
            <a:endParaRPr lang="x-none" altLang="en-US"/>
          </a:p>
          <a:p>
            <a:pPr lvl="1"/>
            <a:r>
              <a:rPr lang="x-none" altLang="en-US" sz="2800"/>
              <a:t>need knowlege about AVR MCU and C++</a:t>
            </a:r>
            <a:endParaRPr lang="x-none" altLang="en-US" sz="2800"/>
          </a:p>
          <a:p>
            <a:pPr lvl="1"/>
            <a:r>
              <a:rPr lang="x-none" altLang="en-US" sz="2800"/>
              <a:t>hack into aruidno's codes to use C++ directly</a:t>
            </a:r>
            <a:endParaRPr lang="x-none" altLang="en-US" sz="2800"/>
          </a:p>
          <a:p>
            <a:pPr lvl="1"/>
            <a:r>
              <a:rPr lang="x-none" altLang="en-US" sz="2800"/>
              <a:t>may NOT portable!</a:t>
            </a:r>
            <a:endParaRPr lang="x-none" altLang="en-US" sz="2800"/>
          </a:p>
          <a:p>
            <a:r>
              <a:rPr lang="x-none" altLang="en-US"/>
              <a:t>Smart-guy's way</a:t>
            </a:r>
            <a:endParaRPr lang="x-none" altLang="en-US"/>
          </a:p>
          <a:p>
            <a:pPr lvl="1"/>
            <a:r>
              <a:rPr lang="x-none" altLang="en-US"/>
              <a:t>do it using library</a:t>
            </a:r>
            <a:endParaRPr lang="x-none" altLang="en-US"/>
          </a:p>
          <a:p>
            <a:pPr lvl="1"/>
            <a:r>
              <a:rPr lang="x-none" altLang="en-US"/>
              <a:t>or</a:t>
            </a:r>
            <a:endParaRPr lang="x-none" altLang="en-US"/>
          </a:p>
          <a:p>
            <a:pPr lvl="1"/>
            <a:r>
              <a:rPr lang="x-none" altLang="en-US"/>
              <a:t>do it using millis()</a:t>
            </a:r>
            <a:endParaRPr lang="x-none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AT2: Arduino Library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What is Arduino Library for?</a:t>
            </a:r>
            <a:endParaRPr lang="x-none" altLang="en-US"/>
          </a:p>
          <a:p>
            <a:pPr lvl="1"/>
            <a:r>
              <a:rPr lang="x-none" altLang="en-US" sz="2800"/>
              <a:t>Provide extendable functions in addition to the basic library.</a:t>
            </a:r>
            <a:endParaRPr lang="x-none" altLang="en-US" sz="2800"/>
          </a:p>
          <a:p>
            <a:pPr lvl="1"/>
            <a:r>
              <a:rPr lang="x-none" altLang="en-US" sz="2800"/>
              <a:t>A way to write BIG programs.</a:t>
            </a:r>
            <a:endParaRPr lang="x-none" altLang="en-US" sz="2800"/>
          </a:p>
          <a:p>
            <a:pPr lvl="1"/>
            <a:r>
              <a:rPr lang="x-none" altLang="en-US" sz="2800"/>
              <a:t>Code re-use.</a:t>
            </a:r>
            <a:endParaRPr lang="x-none" altLang="en-US" sz="2800"/>
          </a:p>
          <a:p>
            <a:r>
              <a:rPr lang="x-none" altLang="en-US"/>
              <a:t>Where can I find the Arduino library?</a:t>
            </a:r>
            <a:endParaRPr lang="x-none" altLang="en-US"/>
          </a:p>
          <a:p>
            <a:r>
              <a:rPr lang="x-none" altLang="en-US"/>
              <a:t>How to use the library in my project?</a:t>
            </a:r>
            <a:endParaRPr lang="x-none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>
                <a:sym typeface="+mn-ea"/>
              </a:rPr>
              <a:t>AT2: Arduino Library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 sz="3200">
                <a:sym typeface="+mn-ea"/>
              </a:rPr>
              <a:t>What is Arduino Library for?</a:t>
            </a:r>
            <a:endParaRPr lang="x-none" altLang="en-US" sz="3200"/>
          </a:p>
          <a:p>
            <a:r>
              <a:rPr lang="x-none" altLang="en-US" sz="3200">
                <a:sym typeface="+mn-ea"/>
              </a:rPr>
              <a:t>Where can I find the Arduino library?</a:t>
            </a:r>
            <a:endParaRPr lang="x-none" altLang="en-US" sz="3200">
              <a:sym typeface="+mn-ea"/>
            </a:endParaRPr>
          </a:p>
          <a:p>
            <a:pPr lvl="1"/>
            <a:r>
              <a:rPr lang="x-none" altLang="en-US" sz="2800">
                <a:sym typeface="+mn-ea"/>
              </a:rPr>
              <a:t>IDE</a:t>
            </a:r>
            <a:endParaRPr lang="x-none" altLang="en-US" sz="2800">
              <a:sym typeface="+mn-ea"/>
            </a:endParaRPr>
          </a:p>
          <a:p>
            <a:pPr lvl="1"/>
            <a:r>
              <a:rPr lang="x-none" altLang="en-US" sz="2800">
                <a:sym typeface="+mn-ea"/>
              </a:rPr>
              <a:t>Download from developers' website</a:t>
            </a:r>
            <a:endParaRPr lang="x-none" altLang="en-US" sz="2800">
              <a:sym typeface="+mn-ea"/>
            </a:endParaRPr>
          </a:p>
          <a:p>
            <a:pPr lvl="1"/>
            <a:r>
              <a:rPr lang="x-none" altLang="en-US" sz="2800">
                <a:sym typeface="+mn-ea"/>
              </a:rPr>
              <a:t>Write you own.</a:t>
            </a:r>
            <a:endParaRPr lang="x-none" altLang="en-US" sz="2800">
              <a:sym typeface="+mn-ea"/>
            </a:endParaRPr>
          </a:p>
          <a:p>
            <a:r>
              <a:rPr lang="x-none" altLang="en-US" sz="3200">
                <a:sym typeface="+mn-ea"/>
              </a:rPr>
              <a:t>How to use the library in my project?</a:t>
            </a:r>
            <a:endParaRPr lang="x-none" altLang="en-US" sz="3200">
              <a:sym typeface="+mn-ea"/>
            </a:endParaRPr>
          </a:p>
          <a:p>
            <a:pPr lvl="1"/>
            <a:r>
              <a:rPr lang="x-none" altLang="en-US"/>
              <a:t>Use IDE to include the library.</a:t>
            </a:r>
            <a:endParaRPr lang="x-none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AT3：How to write library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Using Class to encapsulate the source code</a:t>
            </a:r>
            <a:endParaRPr lang="x-none" altLang="en-US"/>
          </a:p>
          <a:p>
            <a:r>
              <a:rPr lang="x-none" altLang="en-US"/>
              <a:t>Essentially the library is a C++ class or package.</a:t>
            </a:r>
            <a:endParaRPr lang="x-none" altLang="en-US"/>
          </a:p>
          <a:p>
            <a:r>
              <a:rPr lang="x-none" altLang="en-US"/>
              <a:t>Put it into the library directory.</a:t>
            </a:r>
            <a:endParaRPr lang="x-none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Example: MsTimer2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Flowchart: Document 3"/>
          <p:cNvSpPr/>
          <p:nvPr/>
        </p:nvSpPr>
        <p:spPr>
          <a:xfrm>
            <a:off x="406400" y="1569720"/>
            <a:ext cx="5853430" cy="5216525"/>
          </a:xfrm>
          <a:prstGeom prst="flowChartDocumen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46990" tIns="46990" rIns="46990" bIns="4699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/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*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  MsTimer2 is a small and very easy to use library to interface 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  Timer2 with  humans. It's called MsTimer2 because it 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  "hardcodes" a resolution of 1 millisecond on timer2 For Details 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  see: http://www.arduino.cc/playground/Main/MsTimer2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*/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#include &lt;MsTimer2.h&gt;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// Switch on LED on and off each half second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#if ARDUINO &gt;= 100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const int led_pin = LED_BUILTIN;// 1.0 built in LED pin var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#else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const int led_pin = 13;	// default to pin 13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#endif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</p:txBody>
      </p:sp>
      <p:sp>
        <p:nvSpPr>
          <p:cNvPr id="5" name="Flowchart: Document 4"/>
          <p:cNvSpPr/>
          <p:nvPr/>
        </p:nvSpPr>
        <p:spPr>
          <a:xfrm>
            <a:off x="6515100" y="1557020"/>
            <a:ext cx="5494655" cy="5170170"/>
          </a:xfrm>
          <a:prstGeom prst="flowChartDocumen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46990" tIns="46990" rIns="46990" bIns="4699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void flash()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{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  static boolean output = HIGH;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  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  digitalWrite(led_pin, output);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  output = !output;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}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void setup()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{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  pinMode(led_pin, OUTPUT);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  MsTimer2::set(500, flash); // 500ms period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  MsTimer2::start();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}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void loop()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{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charset="0"/>
                <a:ea typeface="SimSun" charset="-122"/>
              </a:rPr>
              <a:t>}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charset="0"/>
              <a:ea typeface="SimSun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charset="0"/>
            <a:ea typeface="SimSun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charset="0"/>
            <a:ea typeface="SimSun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2406</Words>
  <Application>Kingsoft Office WPP</Application>
  <PresentationFormat>Widescreen</PresentationFormat>
  <Paragraphs>120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Business Cooperate</vt:lpstr>
      <vt:lpstr>Practical software engineering for mechatronics systems</vt:lpstr>
      <vt:lpstr>Arduino Basics</vt:lpstr>
      <vt:lpstr>Advanced topics</vt:lpstr>
      <vt:lpstr>AT1: Timer</vt:lpstr>
      <vt:lpstr>AT1: Timer</vt:lpstr>
      <vt:lpstr>Timer in Arduino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Knowledge About Arduino</dc:title>
  <dc:creator>lxm</dc:creator>
  <cp:lastModifiedBy>lxm</cp:lastModifiedBy>
  <cp:revision>10</cp:revision>
  <dcterms:created xsi:type="dcterms:W3CDTF">2017-04-01T05:11:43Z</dcterms:created>
  <dcterms:modified xsi:type="dcterms:W3CDTF">2017-04-01T05:11:43Z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1033-10.1.0.5672</vt:lpwstr>
  </property>
</Properties>
</file>