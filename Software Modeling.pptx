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2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1" d="100"/>
          <a:sy n="41" d="100"/>
        </p:scale>
        <p:origin x="1794" y="5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x-none" altLang="en-US"/>
              <a:t>Software Modeling: Architecture</a:t>
            </a:r>
            <a:endParaRPr lang="x-none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x-none" altLang="en-US"/>
              <a:t>Chapter 5</a:t>
            </a:r>
            <a:endParaRPr lang="x-none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x-none" altLang="en-US"/>
              <a:t>Contents</a:t>
            </a:r>
            <a:endParaRPr lang="x-none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x-none" altLang="en-US"/>
              <a:t>What is software model?</a:t>
            </a:r>
            <a:endParaRPr lang="x-none" altLang="en-US"/>
          </a:p>
          <a:p>
            <a:r>
              <a:rPr lang="x-none" altLang="en-US"/>
              <a:t>Why modeling?</a:t>
            </a:r>
            <a:endParaRPr lang="x-none" altLang="en-US"/>
          </a:p>
          <a:p>
            <a:r>
              <a:rPr lang="x-none" altLang="en-US"/>
              <a:t>How to design a software model?</a:t>
            </a:r>
            <a:endParaRPr lang="x-none" altLang="en-US"/>
          </a:p>
          <a:p>
            <a:r>
              <a:rPr lang="x-none" altLang="en-US"/>
              <a:t>What is software architecture?</a:t>
            </a:r>
            <a:endParaRPr lang="x-none" altLang="en-US"/>
          </a:p>
          <a:p>
            <a:r>
              <a:rPr lang="x-none" altLang="en-US"/>
              <a:t>How to design an architecute?</a:t>
            </a:r>
            <a:endParaRPr lang="x-none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x-none" altLang="en-US"/>
              <a:t>1 What is software model?</a:t>
            </a:r>
            <a:endParaRPr lang="x-none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x-none" altLang="en-US"/>
              <a:t>Software is composed by many programs built from source code.</a:t>
            </a:r>
            <a:endParaRPr lang="x-none" altLang="en-US"/>
          </a:p>
          <a:p>
            <a:endParaRPr lang="x-none" altLang="en-US"/>
          </a:p>
          <a:p>
            <a:endParaRPr lang="x-none" altLang="en-US"/>
          </a:p>
          <a:p>
            <a:endParaRPr lang="x-none" altLang="en-US"/>
          </a:p>
          <a:p>
            <a:endParaRPr lang="x-none" altLang="en-US"/>
          </a:p>
          <a:p>
            <a:endParaRPr lang="x-none" altLang="en-US"/>
          </a:p>
          <a:p>
            <a:r>
              <a:rPr lang="x-none" altLang="en-US"/>
              <a:t>But how to organize the codes?</a:t>
            </a:r>
            <a:endParaRPr lang="x-none" altLang="en-US"/>
          </a:p>
        </p:txBody>
      </p:sp>
      <p:sp>
        <p:nvSpPr>
          <p:cNvPr id="4" name="Flowchart: Multidocument 3"/>
          <p:cNvSpPr/>
          <p:nvPr/>
        </p:nvSpPr>
        <p:spPr>
          <a:xfrm>
            <a:off x="2484120" y="2978785"/>
            <a:ext cx="2118360" cy="1534160"/>
          </a:xfrm>
          <a:prstGeom prst="flowChartMultidocumen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x-none" altLang="en-US"/>
              <a:t>Source code</a:t>
            </a:r>
            <a:endParaRPr lang="x-none" altLang="en-US"/>
          </a:p>
        </p:txBody>
      </p:sp>
      <p:sp>
        <p:nvSpPr>
          <p:cNvPr id="5" name="Hexagon 4"/>
          <p:cNvSpPr/>
          <p:nvPr/>
        </p:nvSpPr>
        <p:spPr>
          <a:xfrm>
            <a:off x="6920865" y="2978150"/>
            <a:ext cx="2151380" cy="1834515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x-none" altLang="en-US"/>
              <a:t>Applicatioin</a:t>
            </a:r>
            <a:endParaRPr lang="x-none" altLang="en-US"/>
          </a:p>
          <a:p>
            <a:pPr algn="ctr"/>
            <a:r>
              <a:rPr lang="x-none" altLang="en-US"/>
              <a:t>Software</a:t>
            </a:r>
            <a:endParaRPr lang="x-none" altLang="en-US"/>
          </a:p>
        </p:txBody>
      </p:sp>
      <p:sp>
        <p:nvSpPr>
          <p:cNvPr id="6" name="Right Arrow 5"/>
          <p:cNvSpPr/>
          <p:nvPr/>
        </p:nvSpPr>
        <p:spPr>
          <a:xfrm>
            <a:off x="4953000" y="3578225"/>
            <a:ext cx="1701165" cy="56705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x-none" altLang="en-US"/>
              <a:t>Tools</a:t>
            </a:r>
            <a:endParaRPr lang="x-none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x-none" altLang="en-US">
                <a:sym typeface="+mn-ea"/>
              </a:rPr>
              <a:t>1 What is software model?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x-none" altLang="en-US"/>
              <a:t>How to organize the source code?</a:t>
            </a:r>
            <a:endParaRPr lang="x-none" altLang="en-US"/>
          </a:p>
          <a:p>
            <a:pPr lvl="1"/>
            <a:r>
              <a:rPr lang="x-none" altLang="en-US"/>
              <a:t>Poor-organized codes are impossible to compile, debug and read/write by programers</a:t>
            </a:r>
            <a:endParaRPr lang="x-none" altLang="en-US"/>
          </a:p>
          <a:p>
            <a:pPr lvl="1"/>
            <a:r>
              <a:rPr lang="x-none" altLang="en-US"/>
              <a:t>C/C++ use seperate header and source files.</a:t>
            </a:r>
            <a:endParaRPr lang="x-none" altLang="en-US"/>
          </a:p>
          <a:p>
            <a:pPr lvl="1"/>
            <a:r>
              <a:rPr lang="x-none" altLang="en-US"/>
              <a:t>Java use packages and class files.</a:t>
            </a:r>
            <a:endParaRPr lang="x-none" altLang="en-US"/>
          </a:p>
          <a:p>
            <a:pPr lvl="1"/>
            <a:r>
              <a:rPr lang="x-none" altLang="en-US"/>
              <a:t>But they are all low-level ways. </a:t>
            </a:r>
            <a:endParaRPr lang="x-none" altLang="en-US"/>
          </a:p>
          <a:p>
            <a:pPr lvl="1"/>
            <a:r>
              <a:rPr lang="x-none" altLang="en-US"/>
              <a:t>Programmer should do it in application level.</a:t>
            </a:r>
            <a:endParaRPr lang="x-none" altLang="en-US"/>
          </a:p>
          <a:p>
            <a:pPr lvl="0"/>
            <a:r>
              <a:rPr lang="x-none" altLang="en-US"/>
              <a:t>Software modules</a:t>
            </a:r>
            <a:endParaRPr lang="x-none" altLang="en-US"/>
          </a:p>
          <a:p>
            <a:pPr lvl="1"/>
            <a:r>
              <a:rPr lang="x-none" altLang="en-US"/>
              <a:t>Group the source code into different modules</a:t>
            </a:r>
            <a:endParaRPr lang="x-none" altLang="en-US"/>
          </a:p>
          <a:p>
            <a:pPr lvl="1"/>
            <a:r>
              <a:rPr lang="x-none" altLang="en-US"/>
              <a:t>The way how modules are designed is software modeling.</a:t>
            </a:r>
            <a:endParaRPr lang="x-none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x-none" altLang="en-US">
                <a:sym typeface="+mn-ea"/>
              </a:rPr>
              <a:t>1 What is software model?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x-none" altLang="en-US"/>
              <a:t>Software modules</a:t>
            </a:r>
            <a:endParaRPr lang="x-none" altLang="en-US"/>
          </a:p>
          <a:p>
            <a:pPr lvl="1"/>
            <a:r>
              <a:rPr lang="x-none" altLang="en-US"/>
              <a:t>Have a unique function as a whole, and sub-functions inside, which are tightly coupled.</a:t>
            </a:r>
            <a:endParaRPr lang="x-none" altLang="en-US"/>
          </a:p>
          <a:p>
            <a:pPr lvl="1"/>
            <a:r>
              <a:rPr lang="x-none" altLang="en-US"/>
              <a:t>From the view of the user, the software modules are abstraction of software system activities.</a:t>
            </a:r>
            <a:endParaRPr lang="x-none" altLang="en-US"/>
          </a:p>
          <a:p>
            <a:pPr lvl="0"/>
            <a:r>
              <a:rPr lang="x-none" altLang="en-US"/>
              <a:t>Two ways to design software modules:</a:t>
            </a:r>
            <a:endParaRPr lang="x-none" altLang="en-US"/>
          </a:p>
          <a:p>
            <a:pPr lvl="1"/>
            <a:r>
              <a:rPr lang="x-none" altLang="en-US"/>
              <a:t>Object-Oriented</a:t>
            </a:r>
            <a:endParaRPr lang="x-none" altLang="en-US"/>
          </a:p>
          <a:p>
            <a:pPr lvl="1"/>
            <a:r>
              <a:rPr lang="x-none" altLang="en-US"/>
              <a:t>Top-Down / Traditional / Structure based analysis and design</a:t>
            </a:r>
            <a:endParaRPr lang="x-none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x-none" altLang="en-US"/>
              <a:t>2 Why modeling the software?</a:t>
            </a:r>
            <a:endParaRPr lang="x-none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x-none" altLang="en-US"/>
              <a:t>Software can be extremely complex. e.g.</a:t>
            </a:r>
            <a:endParaRPr lang="x-none" altLang="en-US"/>
          </a:p>
          <a:p>
            <a:pPr lvl="1"/>
            <a:r>
              <a:rPr lang="x-none" altLang="en-US"/>
              <a:t>Business software: Information System</a:t>
            </a:r>
            <a:endParaRPr lang="x-none" altLang="en-US"/>
          </a:p>
          <a:p>
            <a:pPr lvl="1"/>
            <a:r>
              <a:rPr lang="x-none" altLang="en-US"/>
              <a:t>Automation software: Robotics, Automatic product line.</a:t>
            </a:r>
            <a:endParaRPr lang="x-none" altLang="en-US"/>
          </a:p>
          <a:p>
            <a:pPr lvl="0"/>
            <a:r>
              <a:rPr lang="x-none" altLang="en-US"/>
              <a:t>Software Engineering's requirements</a:t>
            </a:r>
            <a:endParaRPr lang="x-none" altLang="en-US"/>
          </a:p>
          <a:p>
            <a:pPr lvl="0"/>
            <a:r>
              <a:rPr lang="x-none" altLang="en-US"/>
              <a:t>Make source codes easy to write, read, understood, and debug.</a:t>
            </a:r>
            <a:endParaRPr lang="x-none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x-none" altLang="en-US"/>
              <a:t>3 How to design a software model</a:t>
            </a:r>
            <a:endParaRPr lang="x-none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x-none" altLang="en-US"/>
              <a:t>software engineering</a:t>
            </a:r>
            <a:endParaRPr lang="x-none" altLang="en-US"/>
          </a:p>
          <a:p>
            <a:pPr lvl="1"/>
            <a:r>
              <a:rPr lang="x-none" altLang="en-US"/>
              <a:t>OO (object oriented) methods</a:t>
            </a:r>
            <a:endParaRPr lang="x-none" altLang="en-US"/>
          </a:p>
          <a:p>
            <a:pPr lvl="1"/>
            <a:r>
              <a:rPr lang="x-none" altLang="en-US"/>
              <a:t>Structure based analsis and design method</a:t>
            </a:r>
            <a:endParaRPr lang="x-none" altLang="en-US"/>
          </a:p>
          <a:p>
            <a:pPr lvl="1"/>
            <a:endParaRPr lang="x-none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x-none" altLang="en-US">
                <a:sym typeface="+mn-ea"/>
              </a:rPr>
              <a:t>3 How to design a software model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x-none" altLang="en-US"/>
              <a:t>Object-Oriented Methods</a:t>
            </a:r>
            <a:endParaRPr lang="x-none" altLang="en-US"/>
          </a:p>
          <a:p>
            <a:pPr lvl="1"/>
            <a:r>
              <a:rPr lang="x-none" altLang="en-US"/>
              <a:t>OO based requirements analysis</a:t>
            </a:r>
            <a:endParaRPr lang="x-none" altLang="en-US"/>
          </a:p>
          <a:p>
            <a:pPr lvl="1"/>
            <a:r>
              <a:rPr lang="x-none" altLang="en-US"/>
              <a:t>OO based system design</a:t>
            </a:r>
            <a:endParaRPr lang="x-none" altLang="en-US"/>
          </a:p>
          <a:p>
            <a:pPr lvl="1"/>
            <a:r>
              <a:rPr lang="x-none" altLang="en-US"/>
              <a:t>OO based programming</a:t>
            </a:r>
            <a:endParaRPr lang="x-none" altLang="en-US"/>
          </a:p>
          <a:p>
            <a:pPr lvl="0"/>
            <a:r>
              <a:rPr lang="x-none" altLang="en-US" sz="2800"/>
              <a:t>Basic concepts:</a:t>
            </a:r>
            <a:endParaRPr lang="x-none" altLang="en-US" sz="2800"/>
          </a:p>
          <a:p>
            <a:pPr lvl="1"/>
            <a:r>
              <a:rPr lang="x-none" altLang="en-US" sz="2400"/>
              <a:t>Class and Object</a:t>
            </a:r>
            <a:endParaRPr lang="x-none" altLang="en-US" sz="2400"/>
          </a:p>
          <a:p>
            <a:pPr lvl="2"/>
            <a:r>
              <a:rPr lang="x-none" altLang="en-US" sz="2000"/>
              <a:t>Methods and Attributes</a:t>
            </a:r>
            <a:endParaRPr lang="x-none" altLang="en-US" sz="2000"/>
          </a:p>
          <a:p>
            <a:pPr lvl="1"/>
            <a:r>
              <a:rPr lang="x-none" altLang="en-US" sz="2400"/>
              <a:t>Relationship</a:t>
            </a:r>
            <a:endParaRPr lang="x-none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x-none" altLang="en-US">
                <a:sym typeface="+mn-ea"/>
              </a:rPr>
              <a:t>3 How to design a software model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x-none" altLang="en-US"/>
              <a:t>Advanced concepts of OO</a:t>
            </a:r>
            <a:endParaRPr lang="x-none" altLang="en-US"/>
          </a:p>
          <a:p>
            <a:pPr lvl="1"/>
            <a:r>
              <a:rPr lang="x-none" altLang="en-US"/>
              <a:t>Wrap</a:t>
            </a:r>
            <a:endParaRPr lang="x-none" altLang="en-US"/>
          </a:p>
          <a:p>
            <a:pPr lvl="1"/>
            <a:r>
              <a:rPr lang="x-none" altLang="en-US"/>
              <a:t>Overide</a:t>
            </a:r>
            <a:endParaRPr lang="x-none" altLang="en-US"/>
          </a:p>
          <a:p>
            <a:pPr lvl="1"/>
            <a:r>
              <a:rPr lang="x-none" altLang="en-US"/>
              <a:t>Inheritance</a:t>
            </a:r>
            <a:endParaRPr lang="x-none" altLang="en-US"/>
          </a:p>
          <a:p>
            <a:pPr lvl="1"/>
            <a:r>
              <a:rPr lang="x-none" altLang="en-US"/>
              <a:t>Polymorphism</a:t>
            </a:r>
            <a:endParaRPr lang="x-none" altLang="en-US"/>
          </a:p>
          <a:p>
            <a:pPr lvl="1"/>
            <a:r>
              <a:rPr lang="x-none" altLang="en-US"/>
              <a:t>Interface</a:t>
            </a:r>
            <a:endParaRPr lang="x-none" altLang="en-US"/>
          </a:p>
          <a:p>
            <a:pPr lvl="1"/>
            <a:r>
              <a:rPr lang="x-none" altLang="en-US"/>
              <a:t>Virtual Class</a:t>
            </a:r>
            <a:endParaRPr lang="x-none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01005" y="1755775"/>
            <a:ext cx="5244465" cy="389445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x-none" altLang="en-US"/>
              <a:t>OO modeling</a:t>
            </a:r>
            <a:endParaRPr lang="x-none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x-none" altLang="en-US"/>
              <a:t>Class Diagram</a:t>
            </a:r>
            <a:endParaRPr lang="x-none" altLang="en-US"/>
          </a:p>
          <a:p>
            <a:r>
              <a:rPr lang="x-none" altLang="en-US"/>
              <a:t>Sequence Diagram</a:t>
            </a:r>
            <a:endParaRPr lang="x-none" altLang="en-US"/>
          </a:p>
          <a:p>
            <a:r>
              <a:rPr lang="x-none" altLang="en-US"/>
              <a:t>State Diagram</a:t>
            </a:r>
            <a:endParaRPr lang="x-none" altLang="en-US"/>
          </a:p>
          <a:p>
            <a:endParaRPr lang="x-none" altLang="en-US"/>
          </a:p>
          <a:p>
            <a:endParaRPr lang="x-none" altLang="en-US"/>
          </a:p>
          <a:p>
            <a:r>
              <a:rPr lang="x-none" altLang="en-US"/>
              <a:t>see "UML" for more details</a:t>
            </a:r>
            <a:endParaRPr lang="x-none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0760" y="2464435"/>
            <a:ext cx="2971165" cy="19907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x-none" altLang="en-US"/>
              <a:t>Structure based analysis and Design</a:t>
            </a:r>
            <a:endParaRPr lang="x-none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x-none" altLang="en-US"/>
              <a:t>Procedure based method</a:t>
            </a:r>
            <a:endParaRPr lang="x-none" altLang="en-US"/>
          </a:p>
          <a:p>
            <a:r>
              <a:rPr lang="x-none" altLang="en-US"/>
              <a:t>Data structure</a:t>
            </a:r>
            <a:endParaRPr lang="x-none" altLang="en-US"/>
          </a:p>
          <a:p>
            <a:r>
              <a:rPr lang="x-none" altLang="en-US"/>
              <a:t>Data flow diagram</a:t>
            </a:r>
            <a:endParaRPr lang="x-none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rcRect l="12808" r="13549" b="9320"/>
          <a:stretch>
            <a:fillRect/>
          </a:stretch>
        </p:blipFill>
        <p:spPr>
          <a:xfrm>
            <a:off x="3352800" y="3524250"/>
            <a:ext cx="8163560" cy="272478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x-none" altLang="en-US"/>
              <a:t>4 What is software architecture</a:t>
            </a:r>
            <a:endParaRPr lang="x-none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x-none" altLang="en-US"/>
              <a:t>Software architecture is an implemented model of software</a:t>
            </a:r>
            <a:endParaRPr lang="x-none" altLang="en-US"/>
          </a:p>
          <a:p>
            <a:r>
              <a:rPr lang="x-none" altLang="en-US"/>
              <a:t>Structure of the software models</a:t>
            </a:r>
            <a:endParaRPr lang="x-none" altLang="en-US"/>
          </a:p>
          <a:p>
            <a:pPr lvl="1"/>
            <a:r>
              <a:rPr lang="x-none" altLang="en-US"/>
              <a:t>Structure has been defined and devided into different modules</a:t>
            </a:r>
            <a:endParaRPr lang="x-none" altLang="en-US"/>
          </a:p>
          <a:p>
            <a:pPr lvl="1"/>
            <a:r>
              <a:rPr lang="x-none" altLang="en-US"/>
              <a:t>Developers need only to implement modules</a:t>
            </a:r>
            <a:endParaRPr lang="x-none" altLang="en-US"/>
          </a:p>
          <a:p>
            <a:pPr lvl="0"/>
            <a:r>
              <a:rPr lang="x-none" altLang="en-US"/>
              <a:t>People who design the architecture is called architect.</a:t>
            </a:r>
            <a:endParaRPr lang="x-none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x-none" altLang="en-US"/>
              <a:t>5 How to design an Architecture</a:t>
            </a:r>
            <a:endParaRPr lang="x-none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x-none" altLang="en-US"/>
              <a:t>Method1: Choose from existing framework.</a:t>
            </a:r>
            <a:endParaRPr lang="x-none" altLang="en-US"/>
          </a:p>
          <a:p>
            <a:pPr lvl="1"/>
            <a:r>
              <a:rPr lang="x-none" altLang="en-US"/>
              <a:t>.NET</a:t>
            </a:r>
            <a:endParaRPr lang="x-none" altLang="en-US"/>
          </a:p>
          <a:p>
            <a:pPr lvl="1"/>
            <a:r>
              <a:rPr lang="x-none" altLang="en-US"/>
              <a:t>MFC</a:t>
            </a:r>
            <a:endParaRPr lang="x-none" altLang="en-US"/>
          </a:p>
          <a:p>
            <a:pPr lvl="1"/>
            <a:r>
              <a:rPr lang="x-none" altLang="en-US"/>
              <a:t>MVC</a:t>
            </a:r>
            <a:endParaRPr lang="x-none" altLang="en-US"/>
          </a:p>
          <a:p>
            <a:pPr lvl="1"/>
            <a:r>
              <a:rPr lang="x-none" altLang="en-US"/>
              <a:t>...</a:t>
            </a:r>
            <a:endParaRPr lang="x-none" altLang="en-US"/>
          </a:p>
          <a:p>
            <a:pPr lvl="0"/>
            <a:r>
              <a:rPr lang="x-none" altLang="en-US"/>
              <a:t>Method2: Design from scratch</a:t>
            </a:r>
            <a:endParaRPr lang="x-none" altLang="en-US"/>
          </a:p>
          <a:p>
            <a:pPr lvl="1"/>
            <a:r>
              <a:rPr lang="x-none" altLang="en-US"/>
              <a:t>Principle: High cohesion and low coupling</a:t>
            </a:r>
            <a:endParaRPr lang="x-none" altLang="en-US"/>
          </a:p>
          <a:p>
            <a:pPr lvl="1"/>
            <a:r>
              <a:rPr lang="x-none" altLang="en-US"/>
              <a:t>Feasiblity, extendability, resusability, and easy of use</a:t>
            </a:r>
            <a:endParaRPr lang="x-none" altLang="en-US"/>
          </a:p>
          <a:p>
            <a:pPr lvl="1"/>
            <a:r>
              <a:rPr lang="x-none" altLang="en-US"/>
              <a:t>Experience in programming is very important.</a:t>
            </a:r>
            <a:endParaRPr lang="x-none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x-none" altLang="en-US"/>
              <a:t>Path to be an  architect</a:t>
            </a:r>
            <a:endParaRPr lang="x-none" altLang="en-US"/>
          </a:p>
        </p:txBody>
      </p:sp>
      <p:cxnSp>
        <p:nvCxnSpPr>
          <p:cNvPr id="4" name="Straight Arrow Connector 3"/>
          <p:cNvCxnSpPr/>
          <p:nvPr/>
        </p:nvCxnSpPr>
        <p:spPr>
          <a:xfrm>
            <a:off x="1603375" y="3862070"/>
            <a:ext cx="8797290" cy="2540"/>
          </a:xfrm>
          <a:prstGeom prst="straightConnector1">
            <a:avLst/>
          </a:prstGeom>
          <a:ln w="101600" cap="rnd" cmpd="sng">
            <a:solidFill>
              <a:schemeClr val="accent4">
                <a:lumMod val="60000"/>
                <a:lumOff val="40000"/>
              </a:schemeClr>
            </a:solidFill>
            <a:prstDash val="solid"/>
            <a:round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2211070" y="3122295"/>
            <a:ext cx="1463675" cy="146367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990" tIns="46990" rIns="46990" bIns="46990" rtlCol="0" anchor="ctr"/>
          <a:p>
            <a:pPr algn="ctr"/>
            <a:r>
              <a:rPr lang="x-none" altLang="en-US"/>
              <a:t>Programmer</a:t>
            </a:r>
            <a:endParaRPr lang="x-none" altLang="en-US"/>
          </a:p>
        </p:txBody>
      </p:sp>
      <p:sp>
        <p:nvSpPr>
          <p:cNvPr id="6" name="Oval 5"/>
          <p:cNvSpPr/>
          <p:nvPr/>
        </p:nvSpPr>
        <p:spPr>
          <a:xfrm>
            <a:off x="4222115" y="3122295"/>
            <a:ext cx="1463675" cy="146367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990" tIns="46990" rIns="46990" bIns="46990" rtlCol="0" anchor="ctr"/>
          <a:p>
            <a:pPr algn="ctr"/>
            <a:r>
              <a:rPr lang="x-none" altLang="en-US"/>
              <a:t>Advanced Programmer</a:t>
            </a:r>
            <a:endParaRPr lang="x-none" altLang="en-US"/>
          </a:p>
        </p:txBody>
      </p:sp>
      <p:sp>
        <p:nvSpPr>
          <p:cNvPr id="7" name="Oval 6"/>
          <p:cNvSpPr/>
          <p:nvPr/>
        </p:nvSpPr>
        <p:spPr>
          <a:xfrm>
            <a:off x="6183630" y="3122295"/>
            <a:ext cx="1463675" cy="146367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990" tIns="46990" rIns="46990" bIns="46990" rtlCol="0" anchor="ctr"/>
          <a:p>
            <a:pPr algn="ctr"/>
            <a:r>
              <a:rPr lang="x-none" altLang="en-US"/>
              <a:t>System Analyser</a:t>
            </a:r>
            <a:endParaRPr lang="x-none" altLang="en-US"/>
          </a:p>
        </p:txBody>
      </p:sp>
      <p:sp>
        <p:nvSpPr>
          <p:cNvPr id="8" name="Oval 7"/>
          <p:cNvSpPr/>
          <p:nvPr/>
        </p:nvSpPr>
        <p:spPr>
          <a:xfrm>
            <a:off x="8070850" y="3122295"/>
            <a:ext cx="1463675" cy="146367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990" tIns="46990" rIns="46990" bIns="46990" rtlCol="0" anchor="ctr"/>
          <a:p>
            <a:pPr algn="ctr"/>
            <a:r>
              <a:rPr lang="x-none" altLang="en-US"/>
              <a:t>Software Architect</a:t>
            </a:r>
            <a:endParaRPr lang="x-none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x-none" altLang="en-US"/>
              <a:t>To Mechatronic software developers</a:t>
            </a:r>
            <a:endParaRPr lang="x-none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x-none" altLang="en-US"/>
              <a:t>Improving through practice</a:t>
            </a:r>
            <a:endParaRPr lang="x-none" altLang="en-US"/>
          </a:p>
          <a:p>
            <a:r>
              <a:rPr lang="x-none" altLang="en-US"/>
              <a:t>Always keep in mind the ARCHITECTURE.</a:t>
            </a:r>
            <a:endParaRPr lang="x-none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rcRect t="31960"/>
          <a:stretch>
            <a:fillRect/>
          </a:stretch>
        </p:blipFill>
        <p:spPr>
          <a:xfrm>
            <a:off x="585470" y="3641725"/>
            <a:ext cx="3651885" cy="254889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7000" y="3616325"/>
            <a:ext cx="3955415" cy="268986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9675" y="3231515"/>
            <a:ext cx="4187825" cy="30765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2625</Words>
  <Application>Kingsoft Office WPP</Application>
  <PresentationFormat>Widescreen</PresentationFormat>
  <Paragraphs>136</Paragraphs>
  <Slides>15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16" baseType="lpstr">
      <vt:lpstr>Office Theme</vt:lpstr>
      <vt:lpstr>Software Modeling: Architecture</vt:lpstr>
      <vt:lpstr>Contents</vt:lpstr>
      <vt:lpstr>1 What is software model?</vt:lpstr>
      <vt:lpstr>1 What is software model?</vt:lpstr>
      <vt:lpstr>1 What is software model?</vt:lpstr>
      <vt:lpstr>2 Why modeling the software?</vt:lpstr>
      <vt:lpstr>3 How to design a software model</vt:lpstr>
      <vt:lpstr>3 How to design a software model</vt:lpstr>
      <vt:lpstr>3 How to design a software model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Modeling: Architecture</dc:title>
  <dc:creator>lxm</dc:creator>
  <cp:lastModifiedBy>lxm</cp:lastModifiedBy>
  <cp:revision>10</cp:revision>
  <dcterms:created xsi:type="dcterms:W3CDTF">2017-04-17T05:26:48Z</dcterms:created>
  <dcterms:modified xsi:type="dcterms:W3CDTF">2017-04-17T05:26:48Z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1033-10.1.0.5672</vt:lpwstr>
  </property>
</Properties>
</file>